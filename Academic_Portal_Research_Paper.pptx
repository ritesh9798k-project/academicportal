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1E5F8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548640"/>
            <a:ext cx="2743200" cy="2743200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4864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48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TECHNICAL RESEARCH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100" kern="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Technical Research Paper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Data Model · Security · CI/CD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Generated by Assistant   |   Date: 2026-05-17   |   ASP.NET Core MVC · .NET 8.0 · SQL Server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097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28600" y="26517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comprehensive sections covering architecture, security, and implementation.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108960" y="502920"/>
            <a:ext cx="38404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108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47872" y="53949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Introduction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344168"/>
            <a:ext cx="38404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47872" y="138074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2185416"/>
            <a:ext cx="38404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47872" y="22219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Schema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3026664"/>
            <a:ext cx="38404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47872" y="30632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Middleware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3867912"/>
            <a:ext cx="38404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10896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47872" y="39044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502920"/>
            <a:ext cx="384048" cy="384048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65392" y="5394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Page-by-Page Breakdown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1344168"/>
            <a:ext cx="384048" cy="384048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65392" y="13807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Flows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2185416"/>
            <a:ext cx="384048" cy="384048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65392" y="222199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3026664"/>
            <a:ext cx="384048" cy="384048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65392" y="30632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CI/CD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3867912"/>
            <a:ext cx="384048" cy="384048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65392" y="390448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&amp;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High-Level Architecture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188720"/>
            <a:ext cx="8412480" cy="6858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2252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520440" y="122529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Views · Shared Partials · Chatbot Widget · Admin Sidebar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87452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365760" y="2103120"/>
            <a:ext cx="8412480" cy="685800"/>
          </a:xfrm>
          <a:prstGeom prst="rect">
            <a:avLst/>
          </a:prstGeom>
          <a:solidFill>
            <a:srgbClr val="1E5F8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21396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20440" y="213969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Validation · Service Orchestration · JSON / View Responses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0" y="278892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365760" y="3017520"/>
            <a:ext cx="8412480" cy="6858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8640" y="30540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20440" y="305409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DataAccessService · ChatbotService · AuditService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89120" y="370332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365760" y="3931920"/>
            <a:ext cx="8412480" cy="6858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8640" y="39684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520440" y="396849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· Parameterized ADO.NET · Stored Procedures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4773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Middleware: DbExceptionHandlingMiddleware · Logging · Error Handling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Detailed Data Model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78992"/>
            <a:ext cx="4114800" cy="5486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78992"/>
            <a:ext cx="128016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310896" y="117043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600200" y="1170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· Username · Email · PasswordHash · IsActive · CreatedAt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737360"/>
            <a:ext cx="4114800" cy="5486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737360"/>
            <a:ext cx="128016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310896" y="182880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/ UserRoles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60020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RoleId · Name   |   UserId · RoleId (composite PK)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2395728"/>
            <a:ext cx="4114800" cy="5486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2395728"/>
            <a:ext cx="128016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310896" y="248716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600200" y="2487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FacultyId · UserId · Designation · Department · Office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3054096"/>
            <a:ext cx="4114800" cy="5486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054096"/>
            <a:ext cx="128016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310896" y="3145536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600200" y="31455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 · UserId · FirstName · LastName · EnrollmentNumber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74320" y="3712464"/>
            <a:ext cx="4114800" cy="5486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3712464"/>
            <a:ext cx="128016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310896" y="3803904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600200" y="38039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CourseId · Code · Title · Description · IsActive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74320" y="4370832"/>
            <a:ext cx="4114800" cy="5486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4370832"/>
            <a:ext cx="128016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4"/>
          <p:cNvSpPr/>
          <p:nvPr/>
        </p:nvSpPr>
        <p:spPr>
          <a:xfrm>
            <a:off x="310896" y="446227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600200" y="44622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EnrollmentId · StudentId · CourseId · EnrolledAt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754880" y="1078992"/>
            <a:ext cx="4114800" cy="5486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1078992"/>
            <a:ext cx="1371600" cy="548640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31" name="Text 28"/>
          <p:cNvSpPr/>
          <p:nvPr/>
        </p:nvSpPr>
        <p:spPr>
          <a:xfrm>
            <a:off x="4791456" y="11704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AppointmentSlots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172200" y="1170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SlotId · FacultyId · StartUtc · EndUtc · IsAvailable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754880" y="1737360"/>
            <a:ext cx="4114800" cy="5486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754880" y="1737360"/>
            <a:ext cx="1371600" cy="548640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35" name="Text 32"/>
          <p:cNvSpPr/>
          <p:nvPr/>
        </p:nvSpPr>
        <p:spPr>
          <a:xfrm>
            <a:off x="4791456" y="18288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172200" y="1828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AppointmentId · StudentId · FacultyId · SlotId · Status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54880" y="2395728"/>
            <a:ext cx="4114800" cy="5486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754880" y="2395728"/>
            <a:ext cx="1371600" cy="548640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39" name="Text 36"/>
          <p:cNvSpPr/>
          <p:nvPr/>
        </p:nvSpPr>
        <p:spPr>
          <a:xfrm>
            <a:off x="4791456" y="248716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172200" y="24871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FeedbackId · CourseId · StudentId · Rating · SentimentScore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754880" y="3054096"/>
            <a:ext cx="4114800" cy="5486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754880" y="3054096"/>
            <a:ext cx="1371600" cy="548640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43" name="Text 40"/>
          <p:cNvSpPr/>
          <p:nvPr/>
        </p:nvSpPr>
        <p:spPr>
          <a:xfrm>
            <a:off x="4791456" y="314553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172200" y="31455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PolicyId · Title · Category · Content · EffectiveDate · IsActive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754880" y="3712464"/>
            <a:ext cx="4114800" cy="54864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4754880" y="3712464"/>
            <a:ext cx="1371600" cy="548640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47" name="Text 44"/>
          <p:cNvSpPr/>
          <p:nvPr/>
        </p:nvSpPr>
        <p:spPr>
          <a:xfrm>
            <a:off x="4791456" y="380390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172200" y="3803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AuditId · PerformedBy · ActionType · TableName · RecordId · Details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8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Services, Middleware &amp; Data Access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97280"/>
            <a:ext cx="2743200" cy="6400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17043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11704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DataAccessService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11480" y="1874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Query(sql, params) → DataTable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11480" y="2560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Execute(sql, params) → int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11480" y="32461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ExecuteScalar for single-value lookups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11480" y="39319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ADO.NET commands only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00400" y="109728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00400" y="1097280"/>
            <a:ext cx="2743200" cy="640080"/>
          </a:xfrm>
          <a:prstGeom prst="rect">
            <a:avLst/>
          </a:prstGeom>
          <a:solidFill>
            <a:srgbClr val="1E5F8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17043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67328" y="11704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ChatbotService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37560" y="1874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Heuristic-based intent router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337560" y="2560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Cards · Suggestions · RequireLogin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337560" y="32461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RedirectUrl for flow continuation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337560" y="39319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Local-storage persistence on client side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126480" y="109728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126480" y="1097280"/>
            <a:ext cx="2743200" cy="640080"/>
          </a:xfrm>
          <a:prstGeom prst="rect">
            <a:avLst/>
          </a:prstGeom>
          <a:solidFill>
            <a:srgbClr val="1A2E4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17043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93408" y="11704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AuditService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263640" y="1874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critical admin operations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263640" y="25603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Stores: user · action · table · recordId · JSON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263640" y="32461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on CreateUser, course changes, etc.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263640" y="39319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logs plain-text passwords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274320" y="4754880"/>
            <a:ext cx="8595360" cy="30175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0" name="Text 24"/>
          <p:cNvSpPr/>
          <p:nvPr/>
        </p:nvSpPr>
        <p:spPr>
          <a:xfrm>
            <a:off x="457200" y="4754880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⚙  Middleware: DbExceptionHandlingMiddleware — Catches SQL exceptions, routes JSON/HTML errors, logs RequestId for correlation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&amp; Authorization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1280160" cy="1280160"/>
          </a:xfrm>
          <a:prstGeom prst="ellipse">
            <a:avLst/>
          </a:prstGeom>
          <a:solidFill>
            <a:srgbClr val="1E5F8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097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82880" y="24871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Credentials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2880" y="27706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submitted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554480" y="1737360"/>
            <a:ext cx="4389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93392" y="1097280"/>
            <a:ext cx="1280160" cy="1280160"/>
          </a:xfrm>
          <a:prstGeom prst="ellipse">
            <a:avLst/>
          </a:prstGeom>
          <a:solidFill>
            <a:srgbClr val="1E5F8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993392" y="1097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901952" y="24871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01952" y="27706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hashed (unsalted)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73552" y="1737360"/>
            <a:ext cx="4389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12464" y="1097280"/>
            <a:ext cx="1280160" cy="1280160"/>
          </a:xfrm>
          <a:prstGeom prst="ellipse">
            <a:avLst/>
          </a:prstGeom>
          <a:solidFill>
            <a:srgbClr val="1E5F8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712464" y="1097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3621024" y="24871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Lookup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21024" y="27706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hash in Users table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992624" y="1737360"/>
            <a:ext cx="4389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31536" y="1097280"/>
            <a:ext cx="1280160" cy="1280160"/>
          </a:xfrm>
          <a:prstGeom prst="ellipse">
            <a:avLst/>
          </a:prstGeom>
          <a:solidFill>
            <a:srgbClr val="1E5F8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431536" y="1097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5340096" y="24871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Query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340096" y="27706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roles from UserRoles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711696" y="1737360"/>
            <a:ext cx="4389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150608" y="1097280"/>
            <a:ext cx="1280160" cy="1280160"/>
          </a:xfrm>
          <a:prstGeom prst="ellipse">
            <a:avLst/>
          </a:prstGeom>
          <a:solidFill>
            <a:srgbClr val="1E5F8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150608" y="1097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7059168" y="24871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059168" y="27706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ClaimsPrincipal + Cookie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74320" y="3291840"/>
            <a:ext cx="4023360" cy="16916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74320" y="3291840"/>
            <a:ext cx="402336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8"/>
          <p:cNvSpPr/>
          <p:nvPr/>
        </p:nvSpPr>
        <p:spPr>
          <a:xfrm>
            <a:off x="365760" y="3291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Current Issues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11480" y="37033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unsalted — vulnerable to rainbow tables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lockout / brute-force protection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 / SameSite not audited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846320" y="3291840"/>
            <a:ext cx="4023360" cy="16916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846320" y="3291840"/>
            <a:ext cx="40233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2"/>
          <p:cNvSpPr/>
          <p:nvPr/>
        </p:nvSpPr>
        <p:spPr>
          <a:xfrm>
            <a:off x="4937760" y="3291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Recommended Fixes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983480" y="37033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PasswordHasher&lt;TUser&gt; (PBKDF2) or Argon2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re-hash on successful login (migration path)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FailedLoginCount + LockoutEnd columns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Controller &amp; Page Breakdown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8686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554480"/>
                <a:gridCol w="2468880"/>
                <a:gridCol w="31089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Controller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Form Fields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Account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Login · Logout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Username · Password · RememberMe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SHA-256 hash → ClaimsPrincipal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Dashboard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Index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Role-based metrics aggregation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Courses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Index · Detail · Enroll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courseId (hidden)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Duplicate enrollment check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Appointments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Book · GetSlots · Cancel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facultyId · slotId · title · desc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SQL transaction, concurrency safe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Chatbot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SendMessage · StartBooking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message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Intent routing → JSON cards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Faculty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Index · Profile · Create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userId · designation · dept · office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Admin CRUD + slot listing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Feedback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Submit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courseId · rating · comments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Keyword sentiment scoring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Policies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Index · Detail · Edit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Title · Category · Content · IsActive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Raw HTML — sanitize before render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Admin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Users · Students · Courses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All user fields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AuditService.Log on changes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Student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Profile · UpdateProfile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All student fields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Input sanitization required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8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Sequence Flows — Booking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1828800" cy="438912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1051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Browser / UI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490472"/>
            <a:ext cx="0" cy="3429000"/>
          </a:xfrm>
          <a:prstGeom prst="line">
            <a:avLst/>
          </a:prstGeom>
          <a:noFill/>
          <a:ln w="10160">
            <a:solidFill>
              <a:srgbClr val="0D9488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2606040" y="1051560"/>
            <a:ext cx="1828800" cy="438912"/>
          </a:xfrm>
          <a:prstGeom prst="rect">
            <a:avLst/>
          </a:prstGeom>
          <a:solidFill>
            <a:srgbClr val="1E5F8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06040" y="1051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AppointmentsController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20440" y="1490472"/>
            <a:ext cx="0" cy="3429000"/>
          </a:xfrm>
          <a:prstGeom prst="line">
            <a:avLst/>
          </a:prstGeom>
          <a:noFill/>
          <a:ln w="10160">
            <a:solidFill>
              <a:srgbClr val="1E5F8E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4846320" y="1051560"/>
            <a:ext cx="1828800" cy="438912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46320" y="1051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DataAccessService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1490472"/>
            <a:ext cx="0" cy="3429000"/>
          </a:xfrm>
          <a:prstGeom prst="line">
            <a:avLst/>
          </a:prstGeom>
          <a:noFill/>
          <a:ln w="10160">
            <a:solidFill>
              <a:srgbClr val="3B82F6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7086600" y="1051560"/>
            <a:ext cx="1828800" cy="438912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86600" y="1051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 Server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01000" y="1490472"/>
            <a:ext cx="0" cy="3429000"/>
          </a:xfrm>
          <a:prstGeom prst="line">
            <a:avLst/>
          </a:prstGeom>
          <a:noFill/>
          <a:ln w="10160">
            <a:solidFill>
              <a:srgbClr val="1A2E4A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1280160" y="1691640"/>
            <a:ext cx="22402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03020" y="15087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GET /Appointments/Book?facultyId&amp;date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1280160" y="1938528"/>
            <a:ext cx="2240280" cy="0"/>
          </a:xfrm>
          <a:prstGeom prst="line">
            <a:avLst/>
          </a:prstGeom>
          <a:noFill/>
          <a:ln w="19050">
            <a:solidFill>
              <a:srgbClr val="E8EDF5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1303020" y="17556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DF5"/>
                </a:solidFill>
              </a:rPr>
              <a:t>Booking page + JS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280160" y="2194560"/>
            <a:ext cx="22402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03020" y="20116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AJAX GET /GetAvailableSlots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520440" y="2441448"/>
            <a:ext cx="22402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43300" y="225856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82F6"/>
                </a:solidFill>
              </a:rPr>
              <a:t>Query(available slots)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760720" y="2688336"/>
            <a:ext cx="22402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83580" y="250545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SELECT * FROM AppointmentSlots WHERE IsAvailable=1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3520440" y="2944368"/>
            <a:ext cx="4480560" cy="0"/>
          </a:xfrm>
          <a:prstGeom prst="line">
            <a:avLst/>
          </a:prstGeom>
          <a:noFill/>
          <a:ln w="19050">
            <a:solidFill>
              <a:srgbClr val="E8EDF5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4663440" y="276148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DF5"/>
                </a:solidFill>
              </a:rPr>
              <a:t>DataTable rows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1280160" y="3200400"/>
            <a:ext cx="2240280" cy="0"/>
          </a:xfrm>
          <a:prstGeom prst="line">
            <a:avLst/>
          </a:prstGeom>
          <a:noFill/>
          <a:ln w="19050">
            <a:solidFill>
              <a:srgbClr val="E8EDF5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1303020" y="30175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DF5"/>
                </a:solidFill>
              </a:rPr>
              <a:t>JSON slot list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1280160" y="3456432"/>
            <a:ext cx="22402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303020" y="327355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POST /Book (slotId, title, description)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520440" y="3703320"/>
            <a:ext cx="4480560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63440" y="35204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C55E"/>
                </a:solidFill>
              </a:rPr>
              <a:t>BEGIN TRANSACTION → INSERT + UPDATE → COMMIT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1280160" y="3959352"/>
            <a:ext cx="224028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1303020" y="377647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Redirect to BookConfirmation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Analysis &amp; Mitigation Plan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28600" y="1097280"/>
            <a:ext cx="4206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1097280"/>
            <a:ext cx="502920" cy="8412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" y="109728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95528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Storage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5528" y="13990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SHA-256 unsalted — rainbow tables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5528" y="16093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PBKDF2 / Argon2 via PasswordHasher&lt;TUser&gt;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28600" y="2057400"/>
            <a:ext cx="4206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8600" y="2057400"/>
            <a:ext cx="502920" cy="8412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28600" y="205740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95528" y="21122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Cookies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5528" y="2359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Missing HttpOnly / SameSite / Secure flags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95528" y="2569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Configure CookieOptions in Program.cs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8600" y="3017520"/>
            <a:ext cx="4206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28600" y="3017520"/>
            <a:ext cx="502920" cy="8412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228600" y="301752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95528" y="30723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" y="33192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Dynamic string concatenation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95528" y="35295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Parameterized commands (already in DataAccessService)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28600" y="3977640"/>
            <a:ext cx="4206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28600" y="3977640"/>
            <a:ext cx="502920" cy="8412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2"/>
          <p:cNvSpPr/>
          <p:nvPr/>
        </p:nvSpPr>
        <p:spPr>
          <a:xfrm>
            <a:off x="228600" y="397764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95528" y="4032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XSS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95528" y="42793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@Html.Raw on Policies content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95528" y="44897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Ganss.XSS.HtmlSanitizer at save &amp; render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663440" y="1097280"/>
            <a:ext cx="4206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663440" y="1097280"/>
            <a:ext cx="502920" cy="8412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8"/>
          <p:cNvSpPr/>
          <p:nvPr/>
        </p:nvSpPr>
        <p:spPr>
          <a:xfrm>
            <a:off x="4663440" y="109728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230368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230368" y="13990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AJAX endpoints may lack verification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230368" y="16093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Global antiforgery + validate JSON endpoints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663440" y="2057400"/>
            <a:ext cx="4206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663440" y="2057400"/>
            <a:ext cx="502920" cy="8412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4"/>
          <p:cNvSpPr/>
          <p:nvPr/>
        </p:nvSpPr>
        <p:spPr>
          <a:xfrm>
            <a:off x="4663440" y="205740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230368" y="21122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230368" y="2359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Missing [Authorize] on some actions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230368" y="2569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Audit all controllers; verify resource ownership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663440" y="3017520"/>
            <a:ext cx="4206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663440" y="3017520"/>
            <a:ext cx="502920" cy="8412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0"/>
          <p:cNvSpPr/>
          <p:nvPr/>
        </p:nvSpPr>
        <p:spPr>
          <a:xfrm>
            <a:off x="4663440" y="301752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230368" y="30723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230368" y="33192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Race condition on slot booking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230368" y="35295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Transactional check + unique index on SlotId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663440" y="3977640"/>
            <a:ext cx="42062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4663440" y="3977640"/>
            <a:ext cx="502920" cy="8412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9" name="Text 46"/>
          <p:cNvSpPr/>
          <p:nvPr/>
        </p:nvSpPr>
        <p:spPr>
          <a:xfrm>
            <a:off x="4663440" y="397764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230368" y="4032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230368" y="42793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Sensitive data in logs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5230368" y="44897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Redact passwords and PII fields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Testing, CI/CD &amp; Deployment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320" y="150876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Services &amp; controllers (xUnit / NUnit)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via WebApplicationFactory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10+ concurrent booking attempts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DB instance for data isolation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analyzers: Roslyn · Snyk · Dependabot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1554480"/>
            <a:ext cx="4023360" cy="530352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636776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1636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193792" y="15910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93792" y="1828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GitHub Actions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37760" y="2084832"/>
            <a:ext cx="0" cy="12801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2212848"/>
            <a:ext cx="4023360" cy="530352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295144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193792" y="22494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restore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93792" y="2487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NuGet dependencies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937760" y="2743200"/>
            <a:ext cx="0" cy="12801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54880" y="2871216"/>
            <a:ext cx="4023360" cy="530352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29535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475488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93792" y="2907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build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193792" y="31455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Compile, no AppHost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937760" y="3401568"/>
            <a:ext cx="0" cy="12801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54880" y="3529584"/>
            <a:ext cx="4023360" cy="530352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54880" y="36118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47548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193792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test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193792" y="38039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test projects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937760" y="4059936"/>
            <a:ext cx="0" cy="12801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54880" y="4187952"/>
            <a:ext cx="4023360" cy="530352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754880" y="427024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1"/>
          <p:cNvSpPr/>
          <p:nvPr/>
        </p:nvSpPr>
        <p:spPr>
          <a:xfrm>
            <a:off x="4754880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193792" y="4224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193792" y="44622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dependency scan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F8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 Next Steps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4160520" cy="1600200"/>
          </a:xfrm>
          <a:prstGeom prst="rect">
            <a:avLst/>
          </a:prstGeom>
          <a:solidFill>
            <a:srgbClr val="F0F4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43000"/>
            <a:ext cx="4160520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121615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384048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12344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Migration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" y="1691640"/>
            <a:ext cx="3840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SHA-256 with PasswordHasher&lt;TUser&gt;. Add rolling re-hash on login and forced reset for unmigrated accounts.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143000"/>
            <a:ext cx="4160520" cy="1600200"/>
          </a:xfrm>
          <a:prstGeom prst="rect">
            <a:avLst/>
          </a:prstGeom>
          <a:solidFill>
            <a:srgbClr val="F0F4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143000"/>
            <a:ext cx="416052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0"/>
          <p:cNvSpPr/>
          <p:nvPr/>
        </p:nvSpPr>
        <p:spPr>
          <a:xfrm>
            <a:off x="4818888" y="121615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818888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39512" y="12344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Constraints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73752" y="1691640"/>
            <a:ext cx="3840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unique index on (StudentId, CourseId) in Enrollments. Add rowversion for optimistic concurrency on slots.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2971800"/>
            <a:ext cx="4160520" cy="1600200"/>
          </a:xfrm>
          <a:prstGeom prst="rect">
            <a:avLst/>
          </a:prstGeom>
          <a:solidFill>
            <a:srgbClr val="F0F4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971800"/>
            <a:ext cx="4160520" cy="475488"/>
          </a:xfrm>
          <a:prstGeom prst="rect">
            <a:avLst/>
          </a:prstGeom>
          <a:solidFill>
            <a:srgbClr val="1E5F8E"/>
          </a:solidFill>
          <a:ln/>
        </p:spPr>
      </p:sp>
      <p:sp>
        <p:nvSpPr>
          <p:cNvPr id="19" name="Shape 16"/>
          <p:cNvSpPr/>
          <p:nvPr/>
        </p:nvSpPr>
        <p:spPr>
          <a:xfrm>
            <a:off x="384048" y="304495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384048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F8E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04672" y="3063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Sanitization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38912" y="3520440"/>
            <a:ext cx="3840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Ganss.XSS.HtmlSanitizer for Policies.Content at both save time and render time to prevent stored XSS.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09160" y="2971800"/>
            <a:ext cx="4160520" cy="1600200"/>
          </a:xfrm>
          <a:prstGeom prst="rect">
            <a:avLst/>
          </a:prstGeom>
          <a:solidFill>
            <a:srgbClr val="F0F4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2971800"/>
            <a:ext cx="416052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Shape 22"/>
          <p:cNvSpPr/>
          <p:nvPr/>
        </p:nvSpPr>
        <p:spPr>
          <a:xfrm>
            <a:off x="4818888" y="304495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4818888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239512" y="3063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Testing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873752" y="3520440"/>
            <a:ext cx="3840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integration tests that fire 10+ simultaneous booking requests to validate transactional slot reservation logic.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6400800" cy="6400800"/>
          </a:xfrm>
          <a:prstGeom prst="ellipse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2286000"/>
            <a:ext cx="4572000" cy="4572000"/>
          </a:xfrm>
          <a:prstGeom prst="ellipse">
            <a:avLst/>
          </a:prstGeom>
          <a:solidFill>
            <a:srgbClr val="1E5F8E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31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&amp;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Reference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(13 files)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34640" y="2286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· Dashboard · Courses · Chatbot · Appointments · Faculty · Feedback · Policies · Admin (×3) · Student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0F203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(3 files)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34640" y="2834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DataAccessService · ChatbotService · AuditService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34640" y="3383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DbExceptionHandlingMiddleware.cs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0F2035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Scripts (3 files)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3931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init_schema.sql · create_db_and_seed.ps1 · add_appointment_feedback.sql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34640" y="4480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· Admin · Appointments · Chatbot · Courses · Dashboard · Faculty · Feedback · Policies · Shared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Academic Portal Technical Research Paper  ·  2026-05-17  ·  ASP.NET Core MVC · .NET 8.0 · SQL Server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Portal — Technical Research Paper</dc:title>
  <dc:subject>PptxGenJS Presentation</dc:subject>
  <dc:creator>Generated by Assistant</dc:creator>
  <cp:lastModifiedBy>Generated by Assistant</cp:lastModifiedBy>
  <cp:revision>1</cp:revision>
  <dcterms:created xsi:type="dcterms:W3CDTF">2026-05-17T17:35:45Z</dcterms:created>
  <dcterms:modified xsi:type="dcterms:W3CDTF">2026-05-17T17:35:45Z</dcterms:modified>
</cp:coreProperties>
</file>